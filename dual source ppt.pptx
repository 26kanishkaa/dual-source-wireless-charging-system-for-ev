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8" r:id="rId3"/>
    <p:sldId id="257" r:id="rId4"/>
    <p:sldId id="269" r:id="rId5"/>
    <p:sldId id="270" r:id="rId6"/>
    <p:sldId id="268" r:id="rId7"/>
    <p:sldId id="271" r:id="rId8"/>
    <p:sldId id="267" r:id="rId9"/>
    <p:sldId id="258" r:id="rId10"/>
    <p:sldId id="272" r:id="rId11"/>
    <p:sldId id="282" r:id="rId12"/>
    <p:sldId id="274" r:id="rId13"/>
    <p:sldId id="259" r:id="rId14"/>
    <p:sldId id="275" r:id="rId15"/>
    <p:sldId id="276" r:id="rId16"/>
    <p:sldId id="281" r:id="rId17"/>
    <p:sldId id="277" r:id="rId18"/>
    <p:sldId id="280"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30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342A2FB-80C5-418C-AB6B-D3A7BD18C0A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8342A2FB-80C5-418C-AB6B-D3A7BD18C0A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8342A2FB-80C5-418C-AB6B-D3A7BD18C0A7}"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342A2FB-80C5-418C-AB6B-D3A7BD18C0A7}"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42A2FB-80C5-418C-AB6B-D3A7BD18C0A7}"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342A2FB-80C5-418C-AB6B-D3A7BD18C0A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342A2FB-80C5-418C-AB6B-D3A7BD18C0A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42A2FB-80C5-418C-AB6B-D3A7BD18C0A7}"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349249-FC48-47B8-92FA-4330554B3729}"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6" name="TextBox 5"/>
          <p:cNvSpPr txBox="1"/>
          <p:nvPr/>
        </p:nvSpPr>
        <p:spPr>
          <a:xfrm>
            <a:off x="530225" y="1443990"/>
            <a:ext cx="11417300" cy="2607310"/>
          </a:xfrm>
          <a:prstGeom prst="rect">
            <a:avLst/>
          </a:prstGeom>
        </p:spPr>
        <p:txBody>
          <a:bodyPr wrap="square" lIns="0" tIns="0" rIns="0" bIns="0" rtlCol="0" anchor="t">
            <a:noAutofit/>
          </a:bodyPr>
          <a:lstStyle/>
          <a:p>
            <a:pPr algn="ctr">
              <a:lnSpc>
                <a:spcPct val="150000"/>
              </a:lnSpc>
            </a:pPr>
            <a:r>
              <a:rPr lang="en-US" altLang="en-US" sz="3000" b="1" dirty="0">
                <a:latin typeface="Times New Roman" panose="02020603050405020304" pitchFamily="18" charset="0"/>
                <a:ea typeface="League Spartan"/>
                <a:cs typeface="Times New Roman" panose="02020603050405020304" pitchFamily="18" charset="0"/>
                <a:sym typeface="League Spartan"/>
              </a:rPr>
              <a:t>DUAL SOURCE WIRELESS CHARGING SYSTEM FOR ELECTRIC VEHICLES</a:t>
            </a:r>
            <a:endParaRPr lang="en-US" altLang="en-US" sz="3000" b="1" dirty="0">
              <a:latin typeface="Times New Roman" panose="02020603050405020304" pitchFamily="18" charset="0"/>
              <a:ea typeface="League Spartan"/>
              <a:cs typeface="Times New Roman" panose="02020603050405020304" pitchFamily="18" charset="0"/>
              <a:sym typeface="League Spartan"/>
            </a:endParaRPr>
          </a:p>
        </p:txBody>
      </p:sp>
      <p:sp>
        <p:nvSpPr>
          <p:cNvPr id="8" name="TextBox 7"/>
          <p:cNvSpPr txBox="1"/>
          <p:nvPr/>
        </p:nvSpPr>
        <p:spPr>
          <a:xfrm>
            <a:off x="742950" y="4789805"/>
            <a:ext cx="3804336" cy="1602105"/>
          </a:xfrm>
          <a:prstGeom prst="rect">
            <a:avLst/>
          </a:prstGeom>
        </p:spPr>
        <p:txBody>
          <a:bodyPr wrap="square" lIns="0" tIns="0" rIns="0" bIns="0" rtlCol="0" anchor="t">
            <a:noAutofit/>
          </a:bodyPr>
          <a:lstStyle/>
          <a:p>
            <a:pPr algn="ctr">
              <a:lnSpc>
                <a:spcPct val="150000"/>
              </a:lnSpc>
            </a:pPr>
            <a:r>
              <a:rPr lang="en-US" sz="2500" b="1" dirty="0">
                <a:solidFill>
                  <a:schemeClr val="tx1"/>
                </a:solidFill>
                <a:latin typeface="Times New Roman" panose="02020603050405020304" pitchFamily="18" charset="0"/>
                <a:ea typeface="League Spartan"/>
                <a:cs typeface="Times New Roman" panose="02020603050405020304" pitchFamily="18" charset="0"/>
                <a:sym typeface="League Spartan"/>
              </a:rPr>
              <a:t>Guided By</a:t>
            </a:r>
            <a:endParaRPr lang="en-US" sz="2500" b="1" dirty="0">
              <a:solidFill>
                <a:schemeClr val="tx1"/>
              </a:solidFill>
              <a:latin typeface="Times New Roman" panose="02020603050405020304" pitchFamily="18" charset="0"/>
              <a:ea typeface="League Spartan"/>
              <a:cs typeface="Times New Roman" panose="02020603050405020304" pitchFamily="18" charset="0"/>
              <a:sym typeface="League Spartan"/>
            </a:endParaRPr>
          </a:p>
          <a:p>
            <a:pPr algn="ctr">
              <a:lnSpc>
                <a:spcPct val="150000"/>
              </a:lnSpc>
            </a:pPr>
            <a:r>
              <a:rPr sz="2500" b="1" spc="-30" dirty="0" smtClean="0">
                <a:solidFill>
                  <a:schemeClr val="tx1"/>
                </a:solidFill>
                <a:latin typeface="Times New Roman" panose="02020603050405020304"/>
                <a:cs typeface="Times New Roman" panose="02020603050405020304"/>
                <a:sym typeface="+mn-ea"/>
              </a:rPr>
              <a:t>Dr.T.L.Kayathri</a:t>
            </a:r>
            <a:r>
              <a:rPr lang="en-US" sz="2500" b="1" spc="-30" dirty="0" smtClean="0">
                <a:solidFill>
                  <a:schemeClr val="tx1"/>
                </a:solidFill>
                <a:latin typeface="Times New Roman" panose="02020603050405020304"/>
                <a:cs typeface="Times New Roman" panose="02020603050405020304"/>
                <a:sym typeface="+mn-ea"/>
              </a:rPr>
              <a:t>,M.E.,</a:t>
            </a:r>
            <a:r>
              <a:rPr lang="en-US" sz="2500" b="1" spc="-30" dirty="0" err="1" smtClean="0">
                <a:solidFill>
                  <a:schemeClr val="tx1"/>
                </a:solidFill>
                <a:latin typeface="Times New Roman" panose="02020603050405020304"/>
                <a:cs typeface="Times New Roman" panose="02020603050405020304"/>
                <a:sym typeface="+mn-ea"/>
              </a:rPr>
              <a:t>Ph.D</a:t>
            </a:r>
            <a:endParaRPr lang="en-US" sz="2500" b="1" spc="-30" dirty="0" smtClean="0">
              <a:solidFill>
                <a:schemeClr val="tx1"/>
              </a:solidFill>
              <a:latin typeface="Times New Roman" panose="02020603050405020304"/>
              <a:cs typeface="Times New Roman" panose="02020603050405020304"/>
              <a:sym typeface="+mn-ea"/>
            </a:endParaRPr>
          </a:p>
          <a:p>
            <a:pPr algn="ctr">
              <a:lnSpc>
                <a:spcPts val="7940"/>
              </a:lnSpc>
            </a:pPr>
            <a:endParaRPr lang="en-US" sz="2500" b="1" dirty="0">
              <a:solidFill>
                <a:srgbClr val="004AAD"/>
              </a:solidFill>
              <a:latin typeface="Times New Roman" panose="02020603050405020304" pitchFamily="18" charset="0"/>
              <a:ea typeface="League Spartan"/>
              <a:cs typeface="Times New Roman" panose="02020603050405020304" pitchFamily="18" charset="0"/>
              <a:sym typeface="League Spartan"/>
            </a:endParaRPr>
          </a:p>
          <a:p>
            <a:pPr algn="ctr">
              <a:lnSpc>
                <a:spcPts val="7940"/>
              </a:lnSpc>
            </a:pPr>
            <a:endParaRPr lang="en-US" sz="2500" b="1" dirty="0">
              <a:solidFill>
                <a:srgbClr val="004AAD"/>
              </a:solidFill>
              <a:latin typeface="League Spartan"/>
              <a:ea typeface="League Spartan"/>
              <a:cs typeface="League Spartan"/>
              <a:sym typeface="League Spartan"/>
            </a:endParaRPr>
          </a:p>
        </p:txBody>
      </p:sp>
      <p:sp>
        <p:nvSpPr>
          <p:cNvPr id="2" name="Text Box 1"/>
          <p:cNvSpPr txBox="1"/>
          <p:nvPr/>
        </p:nvSpPr>
        <p:spPr>
          <a:xfrm>
            <a:off x="6830060" y="4316730"/>
            <a:ext cx="5117465" cy="2263775"/>
          </a:xfrm>
          <a:prstGeom prst="rect">
            <a:avLst/>
          </a:prstGeom>
          <a:noFill/>
        </p:spPr>
        <p:txBody>
          <a:bodyPr wrap="square" rtlCol="0" anchor="t">
            <a:spAutoFit/>
          </a:bodyPr>
          <a:lstStyle/>
          <a:p>
            <a:pPr algn="ctr">
              <a:lnSpc>
                <a:spcPts val="7940"/>
              </a:lnSpc>
            </a:pPr>
            <a:r>
              <a:rPr lang="en-US" sz="2500" b="1" dirty="0">
                <a:latin typeface="Times New Roman" panose="02020603050405020304" pitchFamily="18" charset="0"/>
                <a:ea typeface="League Spartan"/>
                <a:cs typeface="Times New Roman" panose="02020603050405020304" pitchFamily="18" charset="0"/>
                <a:sym typeface="League Spartan"/>
              </a:rPr>
              <a:t>Presented By</a:t>
            </a:r>
            <a:endParaRPr lang="en-US" sz="2500" b="1" dirty="0">
              <a:solidFill>
                <a:schemeClr val="tx1"/>
              </a:solidFill>
              <a:latin typeface="Times New Roman" panose="02020603050405020304" pitchFamily="18" charset="0"/>
              <a:ea typeface="League Spartan"/>
              <a:cs typeface="Times New Roman" panose="02020603050405020304" pitchFamily="18" charset="0"/>
              <a:sym typeface="League Spartan"/>
            </a:endParaRPr>
          </a:p>
          <a:p>
            <a:pPr algn="just">
              <a:lnSpc>
                <a:spcPct val="100000"/>
              </a:lnSpc>
            </a:pPr>
            <a:r>
              <a:rPr lang="en-US" sz="2500" b="1" dirty="0">
                <a:latin typeface="Times New Roman" panose="02020603050405020304" pitchFamily="18" charset="0"/>
                <a:ea typeface="League Spartan"/>
                <a:cs typeface="Times New Roman" panose="02020603050405020304" pitchFamily="18" charset="0"/>
                <a:sym typeface="League Spartan"/>
              </a:rPr>
              <a:t>KANISHKA  S  (927623BEC102)</a:t>
            </a:r>
            <a:endParaRPr lang="en-US" sz="2500" b="1" dirty="0">
              <a:solidFill>
                <a:schemeClr val="tx1"/>
              </a:solidFill>
              <a:latin typeface="Times New Roman" panose="02020603050405020304" pitchFamily="18" charset="0"/>
              <a:ea typeface="League Spartan"/>
              <a:cs typeface="Times New Roman" panose="02020603050405020304" pitchFamily="18" charset="0"/>
              <a:sym typeface="League Spartan"/>
            </a:endParaRPr>
          </a:p>
          <a:p>
            <a:pPr algn="just">
              <a:lnSpc>
                <a:spcPct val="100000"/>
              </a:lnSpc>
            </a:pPr>
            <a:r>
              <a:rPr lang="en-US" sz="2500" b="1" dirty="0">
                <a:latin typeface="Times New Roman" panose="02020603050405020304" pitchFamily="18" charset="0"/>
                <a:ea typeface="League Spartan"/>
                <a:cs typeface="Times New Roman" panose="02020603050405020304" pitchFamily="18" charset="0"/>
                <a:sym typeface="League Spartan"/>
              </a:rPr>
              <a:t>KANISHKAA  S (927623BEC103)</a:t>
            </a:r>
            <a:endParaRPr lang="en-US" sz="2500" b="1" dirty="0">
              <a:solidFill>
                <a:schemeClr val="tx1"/>
              </a:solidFill>
              <a:latin typeface="Times New Roman" panose="02020603050405020304" pitchFamily="18" charset="0"/>
              <a:ea typeface="League Spartan"/>
              <a:cs typeface="Times New Roman" panose="02020603050405020304" pitchFamily="18" charset="0"/>
              <a:sym typeface="League Spartan"/>
            </a:endParaRPr>
          </a:p>
          <a:p>
            <a:pPr algn="just">
              <a:lnSpc>
                <a:spcPct val="100000"/>
              </a:lnSpc>
            </a:pPr>
            <a:r>
              <a:rPr lang="en-US" sz="2500" b="1" dirty="0">
                <a:latin typeface="Times New Roman" panose="02020603050405020304" pitchFamily="18" charset="0"/>
                <a:ea typeface="League Spartan"/>
                <a:cs typeface="Times New Roman" panose="02020603050405020304" pitchFamily="18" charset="0"/>
                <a:sym typeface="League Spartan"/>
              </a:rPr>
              <a:t>KIRUBA  D        (927623BEC112)</a:t>
            </a:r>
            <a:endParaRPr lang="en-US" sz="2500" b="1" dirty="0">
              <a:latin typeface="Times New Roman" panose="02020603050405020304" pitchFamily="18" charset="0"/>
              <a:ea typeface="League Spartan"/>
              <a:cs typeface="Times New Roman" panose="02020603050405020304" pitchFamily="18" charset="0"/>
              <a:sym typeface="League Spart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3" name="TextBox 2"/>
          <p:cNvSpPr txBox="1"/>
          <p:nvPr/>
        </p:nvSpPr>
        <p:spPr>
          <a:xfrm>
            <a:off x="530224" y="1363473"/>
            <a:ext cx="8259445"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Problem Statement</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6" name="TextBox 5"/>
          <p:cNvSpPr txBox="1"/>
          <p:nvPr/>
        </p:nvSpPr>
        <p:spPr>
          <a:xfrm>
            <a:off x="916856" y="2731390"/>
            <a:ext cx="10006248" cy="2399665"/>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Electric vehicles need frequent charging, but wired charging is slow, inconvenient, and requires a physical </a:t>
            </a:r>
            <a:r>
              <a:rPr lang="en-IN" sz="2000" dirty="0" err="1">
                <a:latin typeface="Times New Roman" panose="02020603050405020304" pitchFamily="18" charset="0"/>
                <a:cs typeface="Times New Roman" panose="02020603050405020304" pitchFamily="18" charset="0"/>
              </a:rPr>
              <a:t>plug.Misalignment</a:t>
            </a:r>
            <a:r>
              <a:rPr lang="en-IN" sz="2000" dirty="0">
                <a:latin typeface="Times New Roman" panose="02020603050405020304" pitchFamily="18" charset="0"/>
                <a:cs typeface="Times New Roman" panose="02020603050405020304" pitchFamily="18" charset="0"/>
              </a:rPr>
              <a:t>, charging delays, and dependency on a single power source reduce </a:t>
            </a:r>
            <a:r>
              <a:rPr lang="en-IN" sz="2000" dirty="0" err="1">
                <a:latin typeface="Times New Roman" panose="02020603050405020304" pitchFamily="18" charset="0"/>
                <a:cs typeface="Times New Roman" panose="02020603050405020304" pitchFamily="18" charset="0"/>
              </a:rPr>
              <a:t>efficiency.There</a:t>
            </a:r>
            <a:r>
              <a:rPr lang="en-IN" sz="2000" dirty="0">
                <a:latin typeface="Times New Roman" panose="02020603050405020304" pitchFamily="18" charset="0"/>
                <a:cs typeface="Times New Roman" panose="02020603050405020304" pitchFamily="18" charset="0"/>
              </a:rPr>
              <a:t> is a need for a continuously available, reliable, and user-friendly charging </a:t>
            </a:r>
            <a:r>
              <a:rPr lang="en-IN" sz="2000" dirty="0" err="1">
                <a:latin typeface="Times New Roman" panose="02020603050405020304" pitchFamily="18" charset="0"/>
                <a:cs typeface="Times New Roman" panose="02020603050405020304" pitchFamily="18" charset="0"/>
              </a:rPr>
              <a:t>method.A</a:t>
            </a:r>
            <a:r>
              <a:rPr lang="en-IN" sz="2000" dirty="0">
                <a:latin typeface="Times New Roman" panose="02020603050405020304" pitchFamily="18" charset="0"/>
                <a:cs typeface="Times New Roman" panose="02020603050405020304" pitchFamily="18" charset="0"/>
              </a:rPr>
              <a:t> dual-source wireless charger can solve these issues by providing stable power from two inputs.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3" name="TextBox 2"/>
          <p:cNvSpPr txBox="1"/>
          <p:nvPr/>
        </p:nvSpPr>
        <p:spPr>
          <a:xfrm>
            <a:off x="530224" y="1363473"/>
            <a:ext cx="8259445"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Existing System</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6" name="TextBox 5"/>
          <p:cNvSpPr txBox="1"/>
          <p:nvPr/>
        </p:nvSpPr>
        <p:spPr>
          <a:xfrm>
            <a:off x="1124114" y="2388343"/>
            <a:ext cx="7665555" cy="4246245"/>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Conventional EV charging uses wired plug-in chargers.</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These systems suffer from:</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Plug damage and wiring issues</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Inconvenience for users</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Only one power source</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Wireless systems exist but:</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Provide low efficiency</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Fail if there is misalignment</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Work with only one power supply</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3" name="TextBox 2"/>
          <p:cNvSpPr txBox="1"/>
          <p:nvPr/>
        </p:nvSpPr>
        <p:spPr>
          <a:xfrm>
            <a:off x="530224" y="1363473"/>
            <a:ext cx="8259445"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Proposed System</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6" name="TextBox 5"/>
          <p:cNvSpPr txBox="1"/>
          <p:nvPr/>
        </p:nvSpPr>
        <p:spPr>
          <a:xfrm>
            <a:off x="1033669" y="2581820"/>
            <a:ext cx="9631017" cy="1938020"/>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dual-source wireless charging setup using solar power and grid power.</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System automatically switches between sources for continuous charging.</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Uses inductive wireless power transfer between transmitter and receiver coils.</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safe, efficient, and contactless charging for electric vehicles.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3" name="TextBox 2"/>
          <p:cNvSpPr txBox="1"/>
          <p:nvPr/>
        </p:nvSpPr>
        <p:spPr>
          <a:xfrm>
            <a:off x="530225" y="1363473"/>
            <a:ext cx="8259445"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Objectives &amp; Scope of the Project</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6" name="TextBox 5"/>
          <p:cNvSpPr txBox="1"/>
          <p:nvPr/>
        </p:nvSpPr>
        <p:spPr>
          <a:xfrm>
            <a:off x="906476" y="2705052"/>
            <a:ext cx="9611139" cy="2399665"/>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Electric vehicles need frequent charging, but wired charging is slow, inconvenient, and requires a physical </a:t>
            </a:r>
            <a:r>
              <a:rPr lang="en-IN" sz="2000" dirty="0" err="1">
                <a:latin typeface="Times New Roman" panose="02020603050405020304" pitchFamily="18" charset="0"/>
                <a:cs typeface="Times New Roman" panose="02020603050405020304" pitchFamily="18" charset="0"/>
              </a:rPr>
              <a:t>plug.Misalignment</a:t>
            </a:r>
            <a:r>
              <a:rPr lang="en-IN" sz="2000" dirty="0">
                <a:latin typeface="Times New Roman" panose="02020603050405020304" pitchFamily="18" charset="0"/>
                <a:cs typeface="Times New Roman" panose="02020603050405020304" pitchFamily="18" charset="0"/>
              </a:rPr>
              <a:t>, charging delays, and dependency on a single power source reduce </a:t>
            </a:r>
            <a:r>
              <a:rPr lang="en-IN" sz="2000" dirty="0" err="1">
                <a:latin typeface="Times New Roman" panose="02020603050405020304" pitchFamily="18" charset="0"/>
                <a:cs typeface="Times New Roman" panose="02020603050405020304" pitchFamily="18" charset="0"/>
              </a:rPr>
              <a:t>efficiency.There</a:t>
            </a:r>
            <a:r>
              <a:rPr lang="en-IN" sz="2000" dirty="0">
                <a:latin typeface="Times New Roman" panose="02020603050405020304" pitchFamily="18" charset="0"/>
                <a:cs typeface="Times New Roman" panose="02020603050405020304" pitchFamily="18" charset="0"/>
              </a:rPr>
              <a:t> is a need for a continuously available, reliable, and user-friendly charging </a:t>
            </a:r>
            <a:r>
              <a:rPr lang="en-IN" sz="2000" dirty="0" err="1">
                <a:latin typeface="Times New Roman" panose="02020603050405020304" pitchFamily="18" charset="0"/>
                <a:cs typeface="Times New Roman" panose="02020603050405020304" pitchFamily="18" charset="0"/>
              </a:rPr>
              <a:t>method.A</a:t>
            </a:r>
            <a:r>
              <a:rPr lang="en-IN" sz="2000" dirty="0">
                <a:latin typeface="Times New Roman" panose="02020603050405020304" pitchFamily="18" charset="0"/>
                <a:cs typeface="Times New Roman" panose="02020603050405020304" pitchFamily="18" charset="0"/>
              </a:rPr>
              <a:t> dual-source wireless charger can solve these issues by providing stable power from two inputs.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3" name="TextBox 2"/>
          <p:cNvSpPr txBox="1"/>
          <p:nvPr/>
        </p:nvSpPr>
        <p:spPr>
          <a:xfrm>
            <a:off x="530225" y="1363345"/>
            <a:ext cx="8259445" cy="578485"/>
          </a:xfrm>
          <a:prstGeom prst="rect">
            <a:avLst/>
          </a:prstGeom>
          <a:noFill/>
        </p:spPr>
        <p:txBody>
          <a:bodyPr wrap="square">
            <a:noAutofit/>
          </a:bodyPr>
          <a:lstStyle/>
          <a:p>
            <a:pPr>
              <a:lnSpc>
                <a:spcPts val="7940"/>
              </a:lnSpc>
            </a:pPr>
            <a:r>
              <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rPr>
              <a:t>Literature Review</a:t>
            </a:r>
            <a:endPar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graphicFrame>
        <p:nvGraphicFramePr>
          <p:cNvPr id="7" name="Table 6"/>
          <p:cNvGraphicFramePr/>
          <p:nvPr>
            <p:custDataLst>
              <p:tags r:id="rId4"/>
            </p:custDataLst>
          </p:nvPr>
        </p:nvGraphicFramePr>
        <p:xfrm>
          <a:off x="375920" y="2360295"/>
          <a:ext cx="10363200" cy="4221480"/>
        </p:xfrm>
        <a:graphic>
          <a:graphicData uri="http://schemas.openxmlformats.org/drawingml/2006/table">
            <a:tbl>
              <a:tblPr firstRow="1" bandRow="1">
                <a:tableStyleId>{5940675A-B579-460E-94D1-54222C63F5DA}</a:tableStyleId>
              </a:tblPr>
              <a:tblGrid>
                <a:gridCol w="2072640"/>
                <a:gridCol w="2072640"/>
                <a:gridCol w="2072640"/>
                <a:gridCol w="2072640"/>
                <a:gridCol w="2072640"/>
              </a:tblGrid>
              <a:tr h="381000">
                <a:tc>
                  <a:txBody>
                    <a:bodyPr/>
                    <a:p>
                      <a:pPr>
                        <a:buNone/>
                      </a:pPr>
                      <a:r>
                        <a:rPr lang="en-US" altLang="en-US"/>
                        <a:t>Title</a:t>
                      </a:r>
                      <a:endParaRPr lang="en-US" altLang="en-US"/>
                    </a:p>
                  </a:txBody>
                  <a:tcPr/>
                </a:tc>
                <a:tc>
                  <a:txBody>
                    <a:bodyPr/>
                    <a:p>
                      <a:pPr>
                        <a:buNone/>
                      </a:pPr>
                      <a:r>
                        <a:rPr lang="en-US" altLang="en-US"/>
                        <a:t>Year</a:t>
                      </a:r>
                      <a:endParaRPr lang="en-US" altLang="en-US"/>
                    </a:p>
                  </a:txBody>
                  <a:tcPr/>
                </a:tc>
                <a:tc>
                  <a:txBody>
                    <a:bodyPr/>
                    <a:p>
                      <a:pPr>
                        <a:buNone/>
                      </a:pPr>
                      <a:r>
                        <a:rPr lang="en-US" altLang="en-US"/>
                        <a:t>Author(s)</a:t>
                      </a:r>
                      <a:endParaRPr lang="en-US" altLang="en-US"/>
                    </a:p>
                  </a:txBody>
                  <a:tcPr/>
                </a:tc>
                <a:tc>
                  <a:txBody>
                    <a:bodyPr/>
                    <a:p>
                      <a:pPr>
                        <a:buNone/>
                      </a:pPr>
                      <a:r>
                        <a:rPr lang="en-US" altLang="en-US"/>
                        <a:t>Technique Used</a:t>
                      </a:r>
                      <a:endParaRPr lang="en-US" altLang="en-US"/>
                    </a:p>
                  </a:txBody>
                  <a:tcPr/>
                </a:tc>
                <a:tc>
                  <a:txBody>
                    <a:bodyPr/>
                    <a:p>
                      <a:pPr>
                        <a:buNone/>
                      </a:pPr>
                      <a:r>
                        <a:rPr lang="en-US" altLang="en-US"/>
                        <a:t>Limitations</a:t>
                      </a:r>
                      <a:endParaRPr lang="en-US" altLang="en-US"/>
                    </a:p>
                  </a:txBody>
                  <a:tcPr/>
                </a:tc>
              </a:tr>
              <a:tr h="381000">
                <a:tc>
                  <a:txBody>
                    <a:bodyPr/>
                    <a:p>
                      <a:pPr>
                        <a:buNone/>
                      </a:pPr>
                      <a:r>
                        <a:rPr lang="en-US" altLang="en-US"/>
                        <a:t>A Comprehensive Review of Wireless Power Transfer Systems for Electric Vehicle Charging </a:t>
                      </a:r>
                      <a:endParaRPr lang="en-US" altLang="en-US"/>
                    </a:p>
                  </a:txBody>
                  <a:tcPr/>
                </a:tc>
                <a:tc>
                  <a:txBody>
                    <a:bodyPr/>
                    <a:p>
                      <a:pPr marL="0" indent="0">
                        <a:lnSpc>
                          <a:spcPct val="150000"/>
                        </a:lnSpc>
                        <a:spcBef>
                          <a:spcPct val="0"/>
                        </a:spcBef>
                        <a:spcAft>
                          <a:spcPct val="0"/>
                        </a:spcAft>
                      </a:pPr>
                      <a:r>
                        <a:rPr lang="en-US" sz="1200">
                          <a:latin typeface="Times New Roman" panose="02020603050405020304"/>
                          <a:ea typeface="Times New Roman" panose="02020603050405020304"/>
                        </a:rPr>
                        <a:t>               </a:t>
                      </a:r>
                      <a:endParaRPr lang="en-US" sz="1200">
                        <a:latin typeface="Times New Roman" panose="02020603050405020304"/>
                        <a:ea typeface="Times New Roman" panose="02020603050405020304"/>
                      </a:endParaRPr>
                    </a:p>
                    <a:p>
                      <a:pPr marL="0" indent="0">
                        <a:lnSpc>
                          <a:spcPct val="150000"/>
                        </a:lnSpc>
                        <a:spcBef>
                          <a:spcPct val="0"/>
                        </a:spcBef>
                        <a:spcAft>
                          <a:spcPct val="0"/>
                        </a:spcAft>
                      </a:pPr>
                      <a:endParaRPr lang="en-US" sz="1200">
                        <a:latin typeface="Times New Roman" panose="02020603050405020304"/>
                        <a:ea typeface="Times New Roman" panose="02020603050405020304"/>
                      </a:endParaRPr>
                    </a:p>
                    <a:p>
                      <a:pPr marL="0" indent="0">
                        <a:lnSpc>
                          <a:spcPct val="150000"/>
                        </a:lnSpc>
                        <a:spcBef>
                          <a:spcPct val="0"/>
                        </a:spcBef>
                        <a:spcAft>
                          <a:spcPct val="0"/>
                        </a:spcAft>
                      </a:pPr>
                      <a:endParaRPr lang="en-US" sz="1200">
                        <a:latin typeface="Times New Roman" panose="02020603050405020304"/>
                        <a:ea typeface="Times New Roman" panose="02020603050405020304"/>
                      </a:endParaRPr>
                    </a:p>
                    <a:p>
                      <a:pPr marL="0" indent="0">
                        <a:lnSpc>
                          <a:spcPct val="150000"/>
                        </a:lnSpc>
                        <a:spcBef>
                          <a:spcPct val="0"/>
                        </a:spcBef>
                        <a:spcAft>
                          <a:spcPct val="0"/>
                        </a:spcAft>
                      </a:pPr>
                      <a:r>
                        <a:rPr lang="en-US" sz="1800">
                          <a:latin typeface="Times New Roman" panose="02020603050405020304"/>
                          <a:ea typeface="Times New Roman" panose="02020603050405020304"/>
                        </a:rPr>
                        <a:t>             </a:t>
                      </a:r>
                      <a:r>
                        <a:rPr sz="1800">
                          <a:latin typeface="Times New Roman" panose="02020603050405020304"/>
                          <a:ea typeface="Times New Roman" panose="02020603050405020304"/>
                        </a:rPr>
                        <a:t>2025</a:t>
                      </a:r>
                      <a:endParaRPr sz="1600">
                        <a:latin typeface="Times New Roman" panose="02020603050405020304"/>
                        <a:ea typeface="Times New Roman" panose="02020603050405020304"/>
                      </a:endParaRPr>
                    </a:p>
                    <a:p>
                      <a:pPr>
                        <a:lnSpc>
                          <a:spcPct val="150000"/>
                        </a:lnSpc>
                        <a:spcBef>
                          <a:spcPct val="0"/>
                        </a:spcBef>
                        <a:spcAft>
                          <a:spcPct val="0"/>
                        </a:spcAft>
                      </a:pPr>
                      <a:endParaRPr sz="1600">
                        <a:latin typeface="Times New Roman" panose="02020603050405020304"/>
                        <a:ea typeface="Times New Roman" panose="02020603050405020304"/>
                      </a:endParaRPr>
                    </a:p>
                  </a:txBody>
                  <a:tcPr marL="68580" marR="68580" marT="0" marB="0" anchor="t" anchorCtr="0"/>
                </a:tc>
                <a:tc>
                  <a:txBody>
                    <a:bodyPr/>
                    <a:p>
                      <a:pPr>
                        <a:buNone/>
                      </a:pPr>
                      <a:r>
                        <a:rPr lang="en-US" altLang="en-US"/>
                        <a:t>S. Das, P. R. Kumar, A. Roy</a:t>
                      </a:r>
                      <a:endParaRPr lang="en-US" altLang="en-US"/>
                    </a:p>
                  </a:txBody>
                  <a:tcPr/>
                </a:tc>
                <a:tc>
                  <a:txBody>
                    <a:bodyPr/>
                    <a:p>
                      <a:pPr>
                        <a:buNone/>
                      </a:pPr>
                      <a:r>
                        <a:rPr lang="en-US" altLang="en-US"/>
                        <a:t>Resonant inductive coupling, compensation networks, coil optimization</a:t>
                      </a:r>
                      <a:endParaRPr lang="en-US" altLang="en-US"/>
                    </a:p>
                  </a:txBody>
                  <a:tcPr/>
                </a:tc>
                <a:tc>
                  <a:txBody>
                    <a:bodyPr/>
                    <a:p>
                      <a:pPr>
                        <a:buNone/>
                      </a:pPr>
                      <a:r>
                        <a:rPr lang="en-US" altLang="en-US"/>
                        <a:t>Sensitive to misalignment, electromagnetic leakage, safety issues</a:t>
                      </a:r>
                      <a:endParaRPr lang="en-US" altLang="en-US"/>
                    </a:p>
                  </a:txBody>
                  <a:tcPr/>
                </a:tc>
              </a:tr>
              <a:tr h="381000">
                <a:tc>
                  <a:txBody>
                    <a:bodyPr/>
                    <a:p>
                      <a:pPr>
                        <a:buNone/>
                      </a:pPr>
                      <a:r>
                        <a:rPr lang="en-US" altLang="en-US"/>
                        <a:t>Critical Review of Wireless Charging Technologies for Electric Vehicles</a:t>
                      </a:r>
                      <a:endParaRPr lang="en-US" altLang="en-US"/>
                    </a:p>
                  </a:txBody>
                  <a:tcPr/>
                </a:tc>
                <a:tc>
                  <a:txBody>
                    <a:bodyPr/>
                    <a:p>
                      <a:pPr>
                        <a:buNone/>
                      </a:pPr>
                      <a:r>
                        <a:rPr lang="en-US" altLang="en-US"/>
                        <a:t>              2025</a:t>
                      </a:r>
                      <a:endParaRPr lang="en-US" altLang="en-US"/>
                    </a:p>
                  </a:txBody>
                  <a:tcPr/>
                </a:tc>
                <a:tc>
                  <a:txBody>
                    <a:bodyPr/>
                    <a:p>
                      <a:pPr>
                        <a:buNone/>
                      </a:pPr>
                      <a:r>
                        <a:rPr lang="en-US" altLang="en-US"/>
                        <a:t>M. George, A. Patel</a:t>
                      </a:r>
                      <a:endParaRPr lang="en-US" altLang="en-US"/>
                    </a:p>
                  </a:txBody>
                  <a:tcPr/>
                </a:tc>
                <a:tc>
                  <a:txBody>
                    <a:bodyPr/>
                    <a:p>
                      <a:pPr>
                        <a:buNone/>
                      </a:pPr>
                      <a:r>
                        <a:rPr lang="en-US" altLang="en-US"/>
                        <a:t>Inductive, resonant, and multi-coil WPT techniques</a:t>
                      </a:r>
                      <a:endParaRPr lang="en-US" altLang="en-US"/>
                    </a:p>
                  </a:txBody>
                  <a:tcPr/>
                </a:tc>
                <a:tc>
                  <a:txBody>
                    <a:bodyPr/>
                    <a:p>
                      <a:pPr>
                        <a:buNone/>
                      </a:pPr>
                      <a:r>
                        <a:rPr lang="en-US" altLang="en-US"/>
                        <a:t>Power loss due to misalignment, need for accurate positioning</a:t>
                      </a:r>
                      <a:endParaRPr lang="en-US" altLang="en-US"/>
                    </a:p>
                  </a:txBody>
                  <a:tcPr/>
                </a:tc>
              </a:tr>
              <a:tr h="381000">
                <a:tc>
                  <a:txBody>
                    <a:bodyPr/>
                    <a:p>
                      <a:pPr>
                        <a:buNone/>
                      </a:pPr>
                      <a:r>
                        <a:rPr lang="en-US" altLang="en-US"/>
                        <a:t>Advances in EV Wireless Charging Technology – A Systematic </a:t>
                      </a:r>
                      <a:endParaRPr lang="en-US" altLang="en-US"/>
                    </a:p>
                  </a:txBody>
                  <a:tcPr/>
                </a:tc>
                <a:tc>
                  <a:txBody>
                    <a:bodyPr/>
                    <a:p>
                      <a:pPr>
                        <a:buNone/>
                      </a:pPr>
                      <a:r>
                        <a:rPr lang="en-US"/>
                        <a:t>              2024</a:t>
                      </a:r>
                      <a:endParaRPr lang="en-US"/>
                    </a:p>
                  </a:txBody>
                  <a:tcPr/>
                </a:tc>
                <a:tc>
                  <a:txBody>
                    <a:bodyPr/>
                    <a:p>
                      <a:pPr>
                        <a:buNone/>
                      </a:pPr>
                      <a:r>
                        <a:rPr lang="en-US" altLang="en-US"/>
                        <a:t>R. Singh, K. Murthy</a:t>
                      </a:r>
                      <a:endParaRPr lang="en-US" altLang="en-US"/>
                    </a:p>
                  </a:txBody>
                  <a:tcPr/>
                </a:tc>
                <a:tc>
                  <a:txBody>
                    <a:bodyPr/>
                    <a:p>
                      <a:pPr>
                        <a:buNone/>
                      </a:pPr>
                      <a:r>
                        <a:rPr lang="en-US" altLang="en-US"/>
                        <a:t>High-frequency inverters, dynamic charging </a:t>
                      </a:r>
                      <a:endParaRPr lang="en-US" altLang="en-US"/>
                    </a:p>
                  </a:txBody>
                  <a:tcPr/>
                </a:tc>
                <a:tc>
                  <a:txBody>
                    <a:bodyPr/>
                    <a:p>
                      <a:pPr>
                        <a:buNone/>
                      </a:pPr>
                      <a:r>
                        <a:rPr lang="en-US" altLang="en-US"/>
                        <a:t>High implementation cost, tuning complexity</a:t>
                      </a:r>
                      <a:endParaRPr lang="en-US" altLang="en-US"/>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3" name="TextBox 2"/>
          <p:cNvSpPr txBox="1"/>
          <p:nvPr/>
        </p:nvSpPr>
        <p:spPr>
          <a:xfrm>
            <a:off x="530224" y="1363473"/>
            <a:ext cx="8819516"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Block Diagram / Circuit Diagram</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pic>
        <p:nvPicPr>
          <p:cNvPr id="2" name="Picture 1"/>
          <p:cNvPicPr>
            <a:picLocks noChangeAspect="1"/>
          </p:cNvPicPr>
          <p:nvPr/>
        </p:nvPicPr>
        <p:blipFill>
          <a:blip r:embed="rId4"/>
          <a:stretch>
            <a:fillRect/>
          </a:stretch>
        </p:blipFill>
        <p:spPr>
          <a:xfrm>
            <a:off x="530225" y="2841625"/>
            <a:ext cx="4885055" cy="3118485"/>
          </a:xfrm>
          <a:prstGeom prst="rect">
            <a:avLst/>
          </a:prstGeom>
        </p:spPr>
      </p:pic>
      <p:pic>
        <p:nvPicPr>
          <p:cNvPr id="6" name="Picture 5"/>
          <p:cNvPicPr>
            <a:picLocks noChangeAspect="1"/>
          </p:cNvPicPr>
          <p:nvPr/>
        </p:nvPicPr>
        <p:blipFill>
          <a:blip r:embed="rId5"/>
          <a:stretch>
            <a:fillRect/>
          </a:stretch>
        </p:blipFill>
        <p:spPr>
          <a:xfrm>
            <a:off x="6096000" y="2712720"/>
            <a:ext cx="5153025" cy="3371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4" y="1363473"/>
            <a:ext cx="7219315"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Methodology / Flowchart</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3" name="Text Box 2"/>
          <p:cNvSpPr txBox="1"/>
          <p:nvPr/>
        </p:nvSpPr>
        <p:spPr>
          <a:xfrm>
            <a:off x="786765" y="2508250"/>
            <a:ext cx="6842760" cy="3784600"/>
          </a:xfrm>
          <a:prstGeom prst="rect">
            <a:avLst/>
          </a:prstGeom>
          <a:noFill/>
        </p:spPr>
        <p:txBody>
          <a:bodyPr wrap="square" rtlCol="0" anchor="t">
            <a:spAutoFit/>
          </a:bodyPr>
          <a:lstStyle/>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Select hardware (transmitter &amp; receiver coils) and software (Blynk app).</a:t>
            </a:r>
            <a:endParaRPr lang="en-US" alt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Set up dual source wireless transmitters and receiver circuits.</a:t>
            </a:r>
            <a:endParaRPr lang="en-US" altLang="en-US" sz="200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Program microcontroller for power control and app communication.</a:t>
            </a:r>
            <a:endParaRPr lang="en-US" alt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Test system for efficiency and alignment.</a:t>
            </a:r>
            <a:endParaRPr lang="en-US" alt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Collect and analyze charging data.</a:t>
            </a:r>
            <a:endParaRPr lang="en-US" alt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Optimize and evaluate performance.</a:t>
            </a:r>
            <a:endParaRPr lang="en-US" sz="200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stretch>
            <a:fillRect/>
          </a:stretch>
        </p:blipFill>
        <p:spPr>
          <a:xfrm>
            <a:off x="8074025" y="2285365"/>
            <a:ext cx="2977515" cy="44691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4" y="1363473"/>
            <a:ext cx="7207885"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Hardware &amp; Software Used</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6" name="TextBox 5"/>
          <p:cNvSpPr txBox="1"/>
          <p:nvPr/>
        </p:nvSpPr>
        <p:spPr>
          <a:xfrm>
            <a:off x="1103244" y="2690336"/>
            <a:ext cx="4870174" cy="3730317"/>
          </a:xfrm>
          <a:prstGeom prst="rect">
            <a:avLst/>
          </a:prstGeom>
          <a:noFill/>
        </p:spPr>
        <p:txBody>
          <a:bodyPr wrap="square">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Hardware Used</a:t>
            </a:r>
            <a:endParaRPr lang="en-IN"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Solar panel</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Grid power supply</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Power converter</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Transmitter &amp; receiver coils</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Microcontroller (Arduino/ESP32)</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BMS and battery</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Rectifier &amp; switching components</a:t>
            </a:r>
            <a:endParaRPr lang="en-IN"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480312" y="2690336"/>
            <a:ext cx="4283766" cy="1421992"/>
          </a:xfrm>
          <a:prstGeom prst="rect">
            <a:avLst/>
          </a:prstGeom>
          <a:noFill/>
        </p:spPr>
        <p:txBody>
          <a:bodyPr wrap="square">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Software Used</a:t>
            </a:r>
            <a:endParaRPr lang="en-IN"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Blynk App (IoT monitoring)</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Arduino IDE (programming)</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1363473"/>
            <a:ext cx="6097904" cy="1109345"/>
          </a:xfrm>
          <a:prstGeom prst="rect">
            <a:avLst/>
          </a:prstGeom>
          <a:noFill/>
        </p:spPr>
        <p:txBody>
          <a:bodyPr wrap="square">
            <a:spAutoFit/>
          </a:bodyPr>
          <a:lstStyle/>
          <a:p>
            <a:pPr>
              <a:lnSpc>
                <a:spcPts val="7940"/>
              </a:lnSpc>
            </a:pPr>
            <a:r>
              <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rPr>
              <a:t>Simulation Results</a:t>
            </a:r>
            <a:endPar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3" name="Text Box 2"/>
          <p:cNvSpPr txBox="1"/>
          <p:nvPr/>
        </p:nvSpPr>
        <p:spPr>
          <a:xfrm>
            <a:off x="1090930" y="2566035"/>
            <a:ext cx="9593580" cy="3504565"/>
          </a:xfrm>
          <a:prstGeom prst="rect">
            <a:avLst/>
          </a:prstGeom>
          <a:noFill/>
        </p:spPr>
        <p:txBody>
          <a:bodyPr wrap="square" rtlCol="0">
            <a:noAutofit/>
          </a:bodyPr>
          <a:lstStyle/>
          <a:p>
            <a:endParaRPr lang="en-US" alt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3486" y="2566034"/>
            <a:ext cx="2135033" cy="3604054"/>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1394" y="2557479"/>
            <a:ext cx="2369167" cy="35628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1363473"/>
            <a:ext cx="6097904"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Hardware Prototype</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pic>
        <p:nvPicPr>
          <p:cNvPr id="3" name="Picture 2"/>
          <p:cNvPicPr>
            <a:picLocks noChangeAspect="1"/>
          </p:cNvPicPr>
          <p:nvPr/>
        </p:nvPicPr>
        <p:blipFill>
          <a:blip r:embed="rId4"/>
          <a:srcRect t="9700" b="12711"/>
          <a:stretch>
            <a:fillRect/>
          </a:stretch>
        </p:blipFill>
        <p:spPr>
          <a:xfrm>
            <a:off x="2380615" y="2860040"/>
            <a:ext cx="3121025" cy="3390265"/>
          </a:xfrm>
          <a:prstGeom prst="rect">
            <a:avLst/>
          </a:prstGeom>
        </p:spPr>
      </p:pic>
      <p:pic>
        <p:nvPicPr>
          <p:cNvPr id="6" name="Picture 5"/>
          <p:cNvPicPr>
            <a:picLocks noChangeAspect="1"/>
          </p:cNvPicPr>
          <p:nvPr/>
        </p:nvPicPr>
        <p:blipFill>
          <a:blip r:embed="rId5"/>
          <a:srcRect l="2982" t="30158" r="1366" b="20744"/>
          <a:stretch>
            <a:fillRect/>
          </a:stretch>
        </p:blipFill>
        <p:spPr>
          <a:xfrm>
            <a:off x="6628765" y="2860675"/>
            <a:ext cx="3164840" cy="33896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1363473"/>
            <a:ext cx="6097904"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Results &amp; Discussion</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6" name="TextBox 5"/>
          <p:cNvSpPr txBox="1"/>
          <p:nvPr/>
        </p:nvSpPr>
        <p:spPr>
          <a:xfrm>
            <a:off x="1043609" y="2562425"/>
            <a:ext cx="9521686" cy="280698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dual-source system successfully charged the EV battery using both solar and grid power.</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Automatic source switching worked smoothly when solar power was low.</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Wireless charging through inductive coils was stable with consistent power transfer.</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Blynk App monitoring showed real-time charging status, voltage, and source selection.</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Overall, the system proved efficient, reliable, and suitable for continuous EV charging.</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1363473"/>
            <a:ext cx="6097904"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Applications</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6" name="TextBox 5"/>
          <p:cNvSpPr txBox="1"/>
          <p:nvPr/>
        </p:nvSpPr>
        <p:spPr>
          <a:xfrm>
            <a:off x="1011307" y="2626434"/>
            <a:ext cx="7009572" cy="188365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Wireless charging for electric cars, bikes, and scooters.</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Charging in parking lots, homes, and public stations.</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Dynamic charging on roads for slow-moving EVs.</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Smart charging systems with IoT monitoring (Blynk app).</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4" y="1363473"/>
            <a:ext cx="7287895"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Advantages &amp; Limitations</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3" name="Text Box 2"/>
          <p:cNvSpPr txBox="1"/>
          <p:nvPr/>
        </p:nvSpPr>
        <p:spPr>
          <a:xfrm>
            <a:off x="920750" y="2429510"/>
            <a:ext cx="4606290" cy="4707890"/>
          </a:xfrm>
          <a:prstGeom prst="rect">
            <a:avLst/>
          </a:prstGeom>
          <a:noFill/>
        </p:spPr>
        <p:txBody>
          <a:bodyPr wrap="square" rtlCol="0" anchor="t">
            <a:spAutoFit/>
          </a:bodyPr>
          <a:lstStyle/>
          <a:p>
            <a:pPr>
              <a:lnSpc>
                <a:spcPct val="150000"/>
              </a:lnSpc>
            </a:pPr>
            <a:r>
              <a:rPr lang="en-US" altLang="en-US" sz="2000" b="1">
                <a:latin typeface="Times New Roman" panose="02020603050405020304" pitchFamily="18" charset="0"/>
                <a:cs typeface="Times New Roman" panose="02020603050405020304" pitchFamily="18" charset="0"/>
              </a:rPr>
              <a:t>Advantages</a:t>
            </a:r>
            <a:endParaRPr lang="en-US" altLang="en-US" sz="2000" b="1">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Provides continuous charging using dual sources (solar + grid).</a:t>
            </a:r>
            <a:endParaRPr lang="en-US" altLang="en-US" sz="200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Fully wireless, safe, and convenient for users.</a:t>
            </a:r>
            <a:endParaRPr lang="en-US" altLang="en-US" sz="200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Reduces dependency on grid power using renewable energy.</a:t>
            </a:r>
            <a:endParaRPr lang="en-US" altLang="en-US" sz="200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Low maintenance and supports IoT monitoring through Blynk.</a:t>
            </a:r>
            <a:endParaRPr lang="en-US" altLang="en-US" sz="2000">
              <a:latin typeface="Times New Roman" panose="02020603050405020304" pitchFamily="18" charset="0"/>
              <a:cs typeface="Times New Roman" panose="02020603050405020304" pitchFamily="18" charset="0"/>
            </a:endParaRPr>
          </a:p>
          <a:p>
            <a:pPr>
              <a:lnSpc>
                <a:spcPct val="150000"/>
              </a:lnSpc>
            </a:pPr>
            <a:endParaRPr lang="en-US" sz="2000">
              <a:latin typeface="Times New Roman" panose="02020603050405020304" pitchFamily="18" charset="0"/>
              <a:cs typeface="Times New Roman" panose="02020603050405020304" pitchFamily="18" charset="0"/>
            </a:endParaRPr>
          </a:p>
        </p:txBody>
      </p:sp>
      <p:sp>
        <p:nvSpPr>
          <p:cNvPr id="6" name="Text Box 5"/>
          <p:cNvSpPr txBox="1"/>
          <p:nvPr/>
        </p:nvSpPr>
        <p:spPr>
          <a:xfrm>
            <a:off x="6351905" y="2429510"/>
            <a:ext cx="5169535" cy="2907030"/>
          </a:xfrm>
          <a:prstGeom prst="rect">
            <a:avLst/>
          </a:prstGeom>
          <a:noFill/>
        </p:spPr>
        <p:txBody>
          <a:bodyPr wrap="square" rtlCol="0" anchor="t">
            <a:noAutofit/>
          </a:bodyPr>
          <a:lstStyle/>
          <a:p>
            <a:pPr>
              <a:lnSpc>
                <a:spcPct val="150000"/>
              </a:lnSpc>
            </a:pPr>
            <a:r>
              <a:rPr lang="en-US" altLang="en-US" sz="2000" b="1">
                <a:latin typeface="Times New Roman" panose="02020603050405020304" pitchFamily="18" charset="0"/>
                <a:cs typeface="Times New Roman" panose="02020603050405020304" pitchFamily="18" charset="0"/>
                <a:sym typeface="+mn-ea"/>
              </a:rPr>
              <a:t>Limitations</a:t>
            </a:r>
            <a:endParaRPr lang="en-US" altLang="en-US" sz="2000" b="1">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sym typeface="+mn-ea"/>
              </a:rPr>
              <a:t>Efficiency decreases with coil misalignment.</a:t>
            </a:r>
            <a:endParaRPr lang="en-US" altLang="en-US" sz="200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sym typeface="+mn-ea"/>
              </a:rPr>
              <a:t>Solar power is weather-dependent.</a:t>
            </a:r>
            <a:endParaRPr lang="en-US" altLang="en-US" sz="200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sym typeface="+mn-ea"/>
              </a:rPr>
              <a:t>Limited charging distance; requires close coil positioning.</a:t>
            </a:r>
            <a:endParaRPr lang="en-US" altLang="en-US" sz="200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sym typeface="+mn-ea"/>
              </a:rPr>
              <a:t>Initial setup cost can be high.</a:t>
            </a:r>
            <a:endParaRPr lang="en-US" alt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1363473"/>
            <a:ext cx="6097904" cy="1109345"/>
          </a:xfrm>
          <a:prstGeom prst="rect">
            <a:avLst/>
          </a:prstGeom>
          <a:noFill/>
        </p:spPr>
        <p:txBody>
          <a:bodyPr wrap="square">
            <a:spAutoFit/>
          </a:bodyPr>
          <a:lstStyle/>
          <a:p>
            <a:pPr>
              <a:lnSpc>
                <a:spcPts val="7940"/>
              </a:lnSpc>
            </a:pPr>
            <a:r>
              <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rPr>
              <a:t>Project Outcome</a:t>
            </a:r>
            <a:endPar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3" name="Text Box 2"/>
          <p:cNvSpPr txBox="1"/>
          <p:nvPr/>
        </p:nvSpPr>
        <p:spPr>
          <a:xfrm>
            <a:off x="852805" y="2605405"/>
            <a:ext cx="9528810" cy="1941830"/>
          </a:xfrm>
          <a:prstGeom prst="rect">
            <a:avLst/>
          </a:prstGeom>
          <a:noFill/>
        </p:spPr>
        <p:txBody>
          <a:bodyPr wrap="square" rtlCol="0">
            <a:noAutofit/>
          </a:bodyPr>
          <a:lstStyle/>
          <a:p>
            <a:pPr marL="285750" indent="-285750">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The project will be published in the IEEE platform, and a project report will be prepared</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1363473"/>
            <a:ext cx="6097904" cy="984437"/>
          </a:xfrm>
          <a:prstGeom prst="rect">
            <a:avLst/>
          </a:prstGeom>
          <a:noFill/>
        </p:spPr>
        <p:txBody>
          <a:bodyPr wrap="square">
            <a:spAutoFit/>
          </a:bodyPr>
          <a:lstStyle/>
          <a:p>
            <a:pPr>
              <a:lnSpc>
                <a:spcPts val="7940"/>
              </a:lnSpc>
            </a:pPr>
            <a:r>
              <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rPr>
              <a:t>Future Scope</a:t>
            </a:r>
            <a:endParaRPr lang="en-US" sz="4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3" name="Text Box 2"/>
          <p:cNvSpPr txBox="1"/>
          <p:nvPr/>
        </p:nvSpPr>
        <p:spPr>
          <a:xfrm>
            <a:off x="1117600" y="2690495"/>
            <a:ext cx="7621905" cy="2399665"/>
          </a:xfrm>
          <a:prstGeom prst="rect">
            <a:avLst/>
          </a:prstGeom>
          <a:noFill/>
        </p:spPr>
        <p:txBody>
          <a:bodyPr wrap="square" rtlCol="0" anchor="t">
            <a:spAutoFit/>
          </a:bodyPr>
          <a:lstStyle/>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Implement fast wireless charging with higher efficiency.</a:t>
            </a:r>
            <a:endParaRPr lang="en-US" alt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Develop dynamic charging roads for moving EVs.</a:t>
            </a:r>
            <a:endParaRPr lang="en-US" alt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Integrate battery health prediction using AI/ML.</a:t>
            </a:r>
            <a:endParaRPr lang="en-US" alt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Expand IoT features for remote control and analytics.</a:t>
            </a:r>
            <a:endParaRPr lang="en-US" alt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Use advanced coil designs to reduce misalignment losses.</a:t>
            </a: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1363473"/>
            <a:ext cx="6097904" cy="1109345"/>
          </a:xfrm>
          <a:prstGeom prst="rect">
            <a:avLst/>
          </a:prstGeom>
          <a:noFill/>
        </p:spPr>
        <p:txBody>
          <a:bodyPr wrap="square">
            <a:spAutoFit/>
          </a:bodyPr>
          <a:lstStyle/>
          <a:p>
            <a:pPr>
              <a:lnSpc>
                <a:spcPts val="7940"/>
              </a:lnSpc>
            </a:pPr>
            <a:r>
              <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rPr>
              <a:t>Conclusion</a:t>
            </a:r>
            <a:endPar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3" name="Text Box 2"/>
          <p:cNvSpPr txBox="1"/>
          <p:nvPr/>
        </p:nvSpPr>
        <p:spPr>
          <a:xfrm>
            <a:off x="903605" y="2554605"/>
            <a:ext cx="9374505" cy="3735070"/>
          </a:xfrm>
          <a:prstGeom prst="rect">
            <a:avLst/>
          </a:prstGeom>
          <a:noFill/>
        </p:spPr>
        <p:txBody>
          <a:bodyPr wrap="square" rtlCol="0">
            <a:noAutofit/>
          </a:bodyPr>
          <a:lstStyle/>
          <a:p>
            <a:pPr algn="just">
              <a:lnSpc>
                <a:spcPct val="150000"/>
              </a:lnSpc>
            </a:pPr>
            <a:r>
              <a:rPr lang="en-US" altLang="en-US" sz="2000">
                <a:latin typeface="Times New Roman" panose="02020603050405020304" pitchFamily="18" charset="0"/>
                <a:cs typeface="Times New Roman" panose="02020603050405020304" pitchFamily="18" charset="0"/>
              </a:rPr>
              <a:t>The dual-source wireless charging system proves to be an effective solution for electric vehicle charging. By combining solar energy with grid power, the system ensures continuous and reliable charging at all times. The wireless inductive method makes the process safe, simple, and convenient for users. With features like automatic source switching and Blynk-based monitoring, the system becomes more efficient and user-friendly. Overall, this project demonstrates a practical and eco-friendly approach that can support the growing demand for electric vehicles in the future.</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530225" y="1363345"/>
            <a:ext cx="6097905" cy="525145"/>
          </a:xfrm>
          <a:prstGeom prst="rect">
            <a:avLst/>
          </a:prstGeom>
          <a:noFill/>
        </p:spPr>
        <p:txBody>
          <a:bodyPr wrap="square">
            <a:noAutofit/>
          </a:bodyPr>
          <a:lstStyle/>
          <a:p>
            <a:pPr>
              <a:lnSpc>
                <a:spcPts val="7940"/>
              </a:lnSpc>
            </a:pPr>
            <a:r>
              <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rPr>
              <a:t>Reference</a:t>
            </a:r>
            <a:endParaRPr lang="en-US" sz="40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3" name="Text Box 2"/>
          <p:cNvSpPr txBox="1"/>
          <p:nvPr/>
        </p:nvSpPr>
        <p:spPr>
          <a:xfrm>
            <a:off x="530225" y="2562225"/>
            <a:ext cx="10351770" cy="3935095"/>
          </a:xfrm>
          <a:prstGeom prst="rect">
            <a:avLst/>
          </a:prstGeom>
        </p:spPr>
        <p:txBody>
          <a:bodyPr wrap="square">
            <a:noAutofit/>
          </a:bodyPr>
          <a:lstStyle/>
          <a:p>
            <a:pPr marL="285750" indent="-285750" algn="just">
              <a:lnSpc>
                <a:spcPct val="100000"/>
              </a:lnSpc>
              <a:spcAft>
                <a:spcPct val="60000"/>
              </a:spcAft>
              <a:buFont typeface="Wingdings" panose="05000000000000000000" charset="0"/>
              <a:buChar char="Ø"/>
            </a:pPr>
            <a:r>
              <a:rPr sz="2000" dirty="0">
                <a:latin typeface="Times New Roman" panose="02020603050405020304" pitchFamily="18" charset="0"/>
                <a:cs typeface="Times New Roman" panose="02020603050405020304" pitchFamily="18" charset="0"/>
              </a:rPr>
              <a:t>P. </a:t>
            </a:r>
            <a:r>
              <a:rPr sz="2000" dirty="0" err="1">
                <a:latin typeface="Times New Roman" panose="02020603050405020304" pitchFamily="18" charset="0"/>
                <a:cs typeface="Times New Roman" panose="02020603050405020304" pitchFamily="18" charset="0"/>
              </a:rPr>
              <a:t>Swarnkar</a:t>
            </a:r>
            <a:r>
              <a:rPr sz="2000" dirty="0">
                <a:latin typeface="Times New Roman" panose="02020603050405020304" pitchFamily="18" charset="0"/>
                <a:cs typeface="Times New Roman" panose="02020603050405020304" pitchFamily="18" charset="0"/>
              </a:rPr>
              <a:t>, N. </a:t>
            </a:r>
            <a:r>
              <a:rPr sz="2000" dirty="0" err="1">
                <a:latin typeface="Times New Roman" panose="02020603050405020304" pitchFamily="18" charset="0"/>
                <a:cs typeface="Times New Roman" panose="02020603050405020304" pitchFamily="18" charset="0"/>
              </a:rPr>
              <a:t>Prajapati</a:t>
            </a:r>
            <a:r>
              <a:rPr sz="2000" dirty="0">
                <a:latin typeface="Times New Roman" panose="02020603050405020304" pitchFamily="18" charset="0"/>
                <a:cs typeface="Times New Roman" panose="02020603050405020304" pitchFamily="18" charset="0"/>
              </a:rPr>
              <a:t>, I. </a:t>
            </a:r>
            <a:r>
              <a:rPr sz="2000" dirty="0" err="1">
                <a:latin typeface="Times New Roman" panose="02020603050405020304" pitchFamily="18" charset="0"/>
                <a:cs typeface="Times New Roman" panose="02020603050405020304" pitchFamily="18" charset="0"/>
              </a:rPr>
              <a:t>Brar</a:t>
            </a:r>
            <a:r>
              <a:rPr sz="2000" dirty="0">
                <a:latin typeface="Times New Roman" panose="02020603050405020304" pitchFamily="18" charset="0"/>
                <a:cs typeface="Times New Roman" panose="02020603050405020304" pitchFamily="18" charset="0"/>
              </a:rPr>
              <a:t>, and D. </a:t>
            </a:r>
            <a:r>
              <a:rPr sz="2000" dirty="0" err="1">
                <a:latin typeface="Times New Roman" panose="02020603050405020304" pitchFamily="18" charset="0"/>
                <a:cs typeface="Times New Roman" panose="02020603050405020304" pitchFamily="18" charset="0"/>
              </a:rPr>
              <a:t>Dewangan</a:t>
            </a:r>
            <a:r>
              <a:rPr sz="2000" dirty="0">
                <a:latin typeface="Times New Roman" panose="02020603050405020304" pitchFamily="18" charset="0"/>
                <a:cs typeface="Times New Roman" panose="02020603050405020304" pitchFamily="18" charset="0"/>
              </a:rPr>
              <a:t>, “Wireless Power Transfer Electric Vehicle Charger Using Solar Energy,” Proceedings of IEEE ICEPES, June 2024.</a:t>
            </a:r>
            <a:endParaRPr sz="2000" dirty="0">
              <a:latin typeface="Times New Roman" panose="02020603050405020304" pitchFamily="18" charset="0"/>
              <a:cs typeface="Times New Roman" panose="02020603050405020304" pitchFamily="18" charset="0"/>
            </a:endParaRPr>
          </a:p>
          <a:p>
            <a:pPr marL="285750" indent="-285750" algn="just">
              <a:lnSpc>
                <a:spcPct val="100000"/>
              </a:lnSpc>
              <a:spcAft>
                <a:spcPct val="60000"/>
              </a:spcAft>
              <a:buFont typeface="Wingdings" panose="05000000000000000000" charset="0"/>
              <a:buChar char="Ø"/>
            </a:pPr>
            <a:r>
              <a:rPr sz="2000" dirty="0">
                <a:latin typeface="Times New Roman" panose="02020603050405020304" pitchFamily="18" charset="0"/>
                <a:cs typeface="Times New Roman" panose="02020603050405020304" pitchFamily="18" charset="0"/>
              </a:rPr>
              <a:t>R. Sharma and A. </a:t>
            </a:r>
            <a:r>
              <a:rPr sz="2000" dirty="0" err="1">
                <a:latin typeface="Times New Roman" panose="02020603050405020304" pitchFamily="18" charset="0"/>
                <a:cs typeface="Times New Roman" panose="02020603050405020304" pitchFamily="18" charset="0"/>
              </a:rPr>
              <a:t>Verma</a:t>
            </a:r>
            <a:r>
              <a:rPr sz="2000" dirty="0">
                <a:latin typeface="Times New Roman" panose="02020603050405020304" pitchFamily="18" charset="0"/>
                <a:cs typeface="Times New Roman" panose="02020603050405020304" pitchFamily="18" charset="0"/>
              </a:rPr>
              <a:t>, “Design of Dynamic Wireless Charging System for Electric Vehicles Using Solar PV,” Proceedings of IEEE ICPEICES, December 202</a:t>
            </a:r>
            <a:r>
              <a:rPr lang="en-US" sz="2000" dirty="0">
                <a:latin typeface="Times New Roman" panose="02020603050405020304" pitchFamily="18" charset="0"/>
                <a:cs typeface="Times New Roman" panose="02020603050405020304" pitchFamily="18" charset="0"/>
              </a:rPr>
              <a:t>4</a:t>
            </a:r>
            <a:r>
              <a:rPr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285750" indent="-285750" algn="just">
              <a:lnSpc>
                <a:spcPct val="100000"/>
              </a:lnSpc>
              <a:spcAft>
                <a:spcPct val="60000"/>
              </a:spcAft>
              <a:buFont typeface="Wingdings" panose="05000000000000000000" charset="0"/>
              <a:buChar char="Ø"/>
            </a:pPr>
            <a:r>
              <a:rPr sz="2000" dirty="0">
                <a:latin typeface="Times New Roman" panose="02020603050405020304" pitchFamily="18" charset="0"/>
                <a:cs typeface="Times New Roman" panose="02020603050405020304" pitchFamily="18" charset="0"/>
              </a:rPr>
              <a:t>M. Khan, S. Ali, and F. Ahmed, “Solar Powered Inductive Charging for Moving Electric Vehicles,” Proceedings of IEEE ICETAS, November 202</a:t>
            </a:r>
            <a:r>
              <a:rPr lang="en-US" sz="2000" dirty="0">
                <a:latin typeface="Times New Roman" panose="02020603050405020304" pitchFamily="18" charset="0"/>
                <a:cs typeface="Times New Roman" panose="02020603050405020304" pitchFamily="18" charset="0"/>
              </a:rPr>
              <a:t>4</a:t>
            </a:r>
            <a:r>
              <a:rPr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charset="0"/>
              <a:buChar char="Ø"/>
            </a:pPr>
            <a:r>
              <a:rPr sz="2000" dirty="0">
                <a:latin typeface="Times New Roman" panose="02020603050405020304" pitchFamily="18" charset="0"/>
                <a:cs typeface="Times New Roman" panose="02020603050405020304" pitchFamily="18" charset="0"/>
              </a:rPr>
              <a:t>X. Liu and S. Chau, “Energy Management and Control in Hybrid Solar–Grid EV Charging Systems,” IEEE Transactions on Transportation Electrification, 2023.</a:t>
            </a:r>
            <a:endParaRPr sz="2000" dirty="0">
              <a:latin typeface="Times New Roman" panose="02020603050405020304" pitchFamily="18" charset="0"/>
              <a:cs typeface="Times New Roman" panose="02020603050405020304" pitchFamily="18" charset="0"/>
            </a:endParaRPr>
          </a:p>
          <a:p>
            <a:pPr indent="0" algn="just">
              <a:lnSpc>
                <a:spcPct val="100000"/>
              </a:lnSpc>
              <a:buFont typeface="Wingdings" panose="05000000000000000000" charset="0"/>
              <a:buNone/>
            </a:pPr>
            <a:endParaRPr sz="2000" dirty="0">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charset="0"/>
              <a:buChar char="Ø"/>
            </a:pPr>
            <a:r>
              <a:rPr sz="2000" dirty="0">
                <a:latin typeface="Times New Roman" panose="02020603050405020304" pitchFamily="18" charset="0"/>
                <a:cs typeface="Times New Roman" panose="02020603050405020304" pitchFamily="18" charset="0"/>
              </a:rPr>
              <a:t>Y. Zhang, L. Wang, and </a:t>
            </a:r>
            <a:r>
              <a:rPr sz="2000" dirty="0"/>
              <a:t>H. Lee, “Design and Analysis of Resonant Inductive Coupling for Dynamic Wireless EV Charging,” IEEE Access Journal, 202</a:t>
            </a:r>
            <a:r>
              <a:rPr lang="en-US" sz="2000" dirty="0"/>
              <a:t>3</a:t>
            </a:r>
            <a:r>
              <a:rPr sz="2000" dirty="0"/>
              <a:t>.</a:t>
            </a:r>
            <a:endParaRPr sz="2000" dirty="0"/>
          </a:p>
          <a:p>
            <a:pPr marL="285750" indent="-285750" algn="just">
              <a:lnSpc>
                <a:spcPct val="100000"/>
              </a:lnSpc>
              <a:buFont typeface="Wingdings" panose="05000000000000000000" charset="0"/>
              <a:buChar char="Ø"/>
            </a:pPr>
            <a:endParaRPr sz="2000" dirty="0"/>
          </a:p>
          <a:p>
            <a:pPr indent="0" algn="just">
              <a:lnSpc>
                <a:spcPct val="100000"/>
              </a:lnSpc>
              <a:buFont typeface="Wingdings" panose="05000000000000000000" charset="0"/>
              <a:buNone/>
            </a:pPr>
            <a:endParaRPr lang="en-US" altLang="en-US" sz="2000" dirty="0"/>
          </a:p>
        </p:txBody>
      </p:sp>
    </p:spTree>
  </p:cSld>
  <p:clrMapOvr>
    <a:masterClrMapping/>
  </p:clrMapOvr>
</p:sld>
</file>

<file path=ppt/tags/tag1.xml><?xml version="1.0" encoding="utf-8"?>
<p:tagLst xmlns:p="http://schemas.openxmlformats.org/presentationml/2006/main">
  <p:tag name="TABLE_ENDDRAG_ORIGIN_RECT" val="815*436"/>
  <p:tag name="TABLE_ENDDRAG_RECT" val="108*184*815*43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5800</Words>
  <Application>WPS Presentation</Application>
  <PresentationFormat>Widescreen</PresentationFormat>
  <Paragraphs>172</Paragraphs>
  <Slides>18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18</vt:i4>
      </vt:variant>
    </vt:vector>
  </HeadingPairs>
  <TitlesOfParts>
    <vt:vector size="31" baseType="lpstr">
      <vt:lpstr>Arial</vt:lpstr>
      <vt:lpstr>SimSun</vt:lpstr>
      <vt:lpstr>Wingdings</vt:lpstr>
      <vt:lpstr>Times New Roman</vt:lpstr>
      <vt:lpstr>League Spartan</vt:lpstr>
      <vt:lpstr>Segoe Print</vt:lpstr>
      <vt:lpstr>Times New Roman</vt:lpstr>
      <vt:lpstr>Wingdings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Dr.D. Mercy</dc:creator>
  <cp:lastModifiedBy>Kanishka</cp:lastModifiedBy>
  <cp:revision>9</cp:revision>
  <dcterms:created xsi:type="dcterms:W3CDTF">2025-08-26T04:28:00Z</dcterms:created>
  <dcterms:modified xsi:type="dcterms:W3CDTF">2025-12-09T06:27:26Z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96F2B23743F046ABA41F9AF5DBF20223_13</vt:lpwstr>
  </property>
  <property fmtid="{D5CDD505-2E9C-101B-9397-08002B2CF9AE}" pid="3" name="KSOProductBuildVer">
    <vt:lpwstr>1033-12.2.0.23155</vt:lpwstr>
  </property>
</Properties>
</file>